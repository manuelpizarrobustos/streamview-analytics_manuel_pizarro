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7365D"/>
                </a:solidFill>
              </a:defRPr>
            </a:pPr>
            <a:r>
              <a:t>STREAMVIEW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4527A"/>
                </a:solidFill>
              </a:defRPr>
            </a:pPr>
            <a:r>
              <a:t>Análisis descriptivo del catálogo de películas y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56575"/>
                </a:solidFill>
              </a:defRPr>
            </a:pPr>
            <a:r>
              <a:t>Proyecto académico · ADY1104 · Duoc 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5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Objetivo y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7365D"/>
                </a:solidFill>
              </a:defRPr>
            </a:pPr>
            <a:r>
              <a:t>Describir patrones del catálogo mediante indicadores y visualizaciones interactivas.</a:t>
            </a:r>
          </a:p>
          <a:p>
            <a:pPr>
              <a:spcAft>
                <a:spcPts val="1600"/>
              </a:spcAft>
              <a:defRPr sz="2000">
                <a:solidFill>
                  <a:srgbClr val="17365D"/>
                </a:solidFill>
              </a:defRPr>
            </a:pPr>
            <a:r>
              <a:t>Trabajar exclusivamente con los archivos proporcionados por el curso.</a:t>
            </a:r>
          </a:p>
          <a:p>
            <a:pPr>
              <a:spcAft>
                <a:spcPts val="1600"/>
              </a:spcAft>
              <a:defRPr sz="2000">
                <a:solidFill>
                  <a:srgbClr val="17365D"/>
                </a:solidFill>
              </a:defRPr>
            </a:pPr>
            <a:r>
              <a:t>Combinar preparación y análisis exploratorio en Python/Jupyter con dashboards en Power BI.</a:t>
            </a:r>
          </a:p>
          <a:p>
            <a:pPr>
              <a:spcAft>
                <a:spcPts val="1600"/>
              </a:spcAft>
              <a:defRPr sz="2000">
                <a:solidFill>
                  <a:srgbClr val="17365D"/>
                </a:solidFill>
              </a:defRPr>
            </a:pPr>
            <a:r>
              <a:t>Enfoque descriptivo: no se realizan predicciones ni se infiere causalidad.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Preparación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7365D"/>
                </a:solidFill>
              </a:defRPr>
            </a:pPr>
            <a:r>
              <a:t>Películas: 16.000 registros procesados.</a:t>
            </a:r>
          </a:p>
          <a:p>
            <a:pPr>
              <a:spcAft>
                <a:spcPts val="1600"/>
              </a:spcAft>
              <a:defRPr sz="1900">
                <a:solidFill>
                  <a:srgbClr val="17365D"/>
                </a:solidFill>
              </a:defRPr>
            </a:pPr>
            <a:r>
              <a:t>Series: 15.991 registros tras resolver nueve show_id duplicados.</a:t>
            </a:r>
          </a:p>
          <a:p>
            <a:pPr>
              <a:spcAft>
                <a:spcPts val="1600"/>
              </a:spcAft>
              <a:defRPr sz="1900">
                <a:solidFill>
                  <a:srgbClr val="17365D"/>
                </a:solidFill>
              </a:defRPr>
            </a:pPr>
            <a:r>
              <a:t>Valoraciones válidas: vote_count &gt; 0 y vote_average &gt; 0.</a:t>
            </a:r>
          </a:p>
          <a:p>
            <a:pPr>
              <a:spcAft>
                <a:spcPts val="1600"/>
              </a:spcAft>
              <a:defRPr sz="1900">
                <a:solidFill>
                  <a:srgbClr val="17365D"/>
                </a:solidFill>
              </a:defRPr>
            </a:pPr>
            <a:r>
              <a:t>Se conservaron los archivos originales y se documentaron las decisiones aplicadas.</a:t>
            </a:r>
          </a:p>
          <a:p>
            <a:pPr>
              <a:spcAft>
                <a:spcPts val="1600"/>
              </a:spcAft>
              <a:defRPr sz="1900">
                <a:solidFill>
                  <a:srgbClr val="17365D"/>
                </a:solidFill>
              </a:defRPr>
            </a:pPr>
            <a:r>
              <a:t>Solo 3.540 películas tienen presupuesto e ingresos mayores que cero simultáneamente.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Indicadores ejecutivos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92608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6575"/>
                </a:solidFill>
              </a:defRPr>
            </a:pPr>
            <a:r>
              <a:t>Títulos totales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31.991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54480"/>
            <a:ext cx="292608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1737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6575"/>
                </a:solidFill>
              </a:defRPr>
            </a:pPr>
            <a:r>
              <a:t>Películas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16.000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292608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6575"/>
                </a:solidFill>
              </a:defRPr>
            </a:pPr>
            <a:r>
              <a:t>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15.991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657600"/>
            <a:ext cx="292608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6575"/>
                </a:solidFill>
              </a:defRPr>
            </a:pPr>
            <a:r>
              <a:t>Valoración media películas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297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6,31/10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657600"/>
            <a:ext cx="292608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6575"/>
                </a:solidFill>
              </a:defRPr>
            </a:pPr>
            <a:r>
              <a:t>Valoración media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297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7,03/10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Hallazgos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7365D"/>
                </a:solidFill>
              </a:defRPr>
            </a:pPr>
            <a:r>
              <a:t>Drama es el género con más asociaciones en películas y series.</a:t>
            </a:r>
          </a:p>
          <a:p>
            <a:pPr>
              <a:spcAft>
                <a:spcPts val="1600"/>
              </a:spcAft>
              <a:defRPr sz="1800">
                <a:solidFill>
                  <a:srgbClr val="17365D"/>
                </a:solidFill>
              </a:defRPr>
            </a:pPr>
            <a:r>
              <a:t>Estados Unidos lidera los conteos por país en ambos tipos de contenido.</a:t>
            </a:r>
          </a:p>
          <a:p>
            <a:pPr>
              <a:spcAft>
                <a:spcPts val="1600"/>
              </a:spcAft>
              <a:defRPr sz="1800">
                <a:solidFill>
                  <a:srgbClr val="17365D"/>
                </a:solidFill>
              </a:defRPr>
            </a:pPr>
            <a:r>
              <a:t>La correlación popularidad–valoración es muy débil: 0,081 en películas y −0,032 en series.</a:t>
            </a:r>
          </a:p>
          <a:p>
            <a:pPr>
              <a:spcAft>
                <a:spcPts val="1600"/>
              </a:spcAft>
              <a:defRPr sz="1800">
                <a:solidFill>
                  <a:srgbClr val="17365D"/>
                </a:solidFill>
              </a:defRPr>
            </a:pPr>
            <a:r>
              <a:t>Interstellar y Parasite destacan en películas; Arcane y Hazbin Hotel en series (mínimo 500 votos).</a:t>
            </a:r>
          </a:p>
          <a:p>
            <a:pPr>
              <a:spcAft>
                <a:spcPts val="1600"/>
              </a:spcAft>
              <a:defRPr sz="1800">
                <a:solidFill>
                  <a:srgbClr val="17365D"/>
                </a:solidFill>
              </a:defRPr>
            </a:pPr>
            <a:r>
              <a:t>Popularidad es un índice relativo del dataset, no un número de reproducciones.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Análisis financiero y cautelas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17365D"/>
                </a:solidFill>
              </a:defRPr>
            </a:pPr>
            <a:r>
              <a:t>La relación usada es ingresos/presupuesto (revenue/budget), según el caso.</a:t>
            </a:r>
          </a:p>
          <a:p>
            <a:pPr>
              <a:spcAft>
                <a:spcPts val="1600"/>
              </a:spcAft>
              <a:defRPr sz="1700">
                <a:solidFill>
                  <a:srgbClr val="17365D"/>
                </a:solidFill>
              </a:defRPr>
            </a:pPr>
            <a:r>
              <a:t>No equivale al ROI neto convencional ni representa ganancia después de costos.</a:t>
            </a:r>
          </a:p>
          <a:p>
            <a:pPr>
              <a:spcAft>
                <a:spcPts val="1600"/>
              </a:spcAft>
              <a:defRPr sz="1700">
                <a:solidFill>
                  <a:srgbClr val="17365D"/>
                </a:solidFill>
              </a:defRPr>
            </a:pPr>
            <a:r>
              <a:t>Entre 2010 y 2024 aparecen exactamente 1.000 películas y 1.000 series por año; no debe interpretarse como crecimiento real de Netflix.</a:t>
            </a:r>
          </a:p>
          <a:p>
            <a:pPr>
              <a:spcAft>
                <a:spcPts val="1600"/>
              </a:spcAft>
              <a:defRPr sz="1700">
                <a:solidFill>
                  <a:srgbClr val="17365D"/>
                </a:solidFill>
              </a:defRPr>
            </a:pPr>
            <a:r>
              <a:t>Los conteos por género y país no son excluyentes, porque un título puede tener múltiples asociaciones.</a:t>
            </a:r>
          </a:p>
          <a:p>
            <a:pPr>
              <a:spcAft>
                <a:spcPts val="1600"/>
              </a:spcAft>
              <a:defRPr sz="1700">
                <a:solidFill>
                  <a:srgbClr val="17365D"/>
                </a:solidFill>
              </a:defRPr>
            </a:pPr>
            <a:r>
              <a:t>Conclusión: los dashboards permiten comparar composición, valoraciones y métricas financieras, respetando las limitaciones de los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